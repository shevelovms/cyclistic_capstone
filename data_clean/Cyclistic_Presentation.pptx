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3a6487aaa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3a6487aaa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a6487aaa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a6487aaa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a6487aaa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a6487aaa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3a6487aaa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3a6487aaa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2c1b775b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2c1b775b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2c1b775b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2c1b775b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2c1b775b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2c1b775b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2c1b775b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2c1b775b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2c1b775b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2c1b775b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2c1b775b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2c1b775b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ivvy-tripdata.s3.amazonaws.com/index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coursera.org/professional-certificates/google-data-analytics" TargetMode="External"/><Relationship Id="rId4" Type="http://schemas.openxmlformats.org/officeDocument/2006/relationships/hyperlink" Target="https://www.coursera.org/professional-certificates/google-data-analy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Cyclistic 2024 Data Analysis &amp; Key Recommendations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062825" y="2834125"/>
            <a:ext cx="702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Unlocking Growth: Converting Casual Riders into Loyal Members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52250" y="4367700"/>
            <a:ext cx="2839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chemeClr val="dk2"/>
                </a:solidFill>
              </a:rPr>
              <a:t>Mykyta (Nick) Shevelov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>
                <a:solidFill>
                  <a:srgbClr val="666666"/>
                </a:solidFill>
              </a:rPr>
              <a:t>Mar 2025</a:t>
            </a:r>
            <a:endParaRPr sz="11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Problem: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Cyclistic’s finance analysts have identified a </a:t>
            </a:r>
            <a:r>
              <a:rPr b="1" lang="en-CA"/>
              <a:t>potential revenue gap </a:t>
            </a:r>
            <a:r>
              <a:rPr lang="en-CA"/>
              <a:t>due to the low conversion rate of casual riders to annual members, despite the membership purchase incentive.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Business Task: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To analyze how annual members and casual riders </a:t>
            </a:r>
            <a:r>
              <a:rPr b="1" lang="en-CA"/>
              <a:t>use Cyclistic bikes differently </a:t>
            </a:r>
            <a:r>
              <a:rPr lang="en-CA"/>
              <a:t>and provide </a:t>
            </a:r>
            <a:r>
              <a:rPr b="1" lang="en-CA"/>
              <a:t>three data-backed recommendations </a:t>
            </a:r>
            <a:r>
              <a:rPr lang="en-CA"/>
              <a:t>to inform marketing strategies aimed at increasing the conversion of casual riders to annual members.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 Sources Used in the Analysis: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CA" u="sng">
                <a:solidFill>
                  <a:schemeClr val="hlink"/>
                </a:solidFill>
                <a:hlinkClick r:id="rId3"/>
              </a:rPr>
              <a:t>Cyclistic 2024 Monthly Trip Data</a:t>
            </a:r>
            <a:r>
              <a:rPr lang="en-CA"/>
              <a:t> </a:t>
            </a:r>
            <a:r>
              <a:rPr lang="en-CA"/>
              <a:t>(January to December): This dataset includes detailed records of bike usage by both casual riders and annual members, providing insights into ride duration, rideable types, start and end locations, and user categories.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CA"/>
              <a:t>Note:</a:t>
            </a:r>
            <a:r>
              <a:rPr lang="en-CA"/>
              <a:t> Several fields within the dataset were found to have incomplete or missing values. The most affected fields include —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○"/>
            </a:pPr>
            <a:r>
              <a:rPr lang="en-CA"/>
              <a:t>start_station_name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/>
              <a:t>start_station_id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/>
              <a:t>end_station_name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CA"/>
              <a:t>end_station_id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Data Cleaning &amp; Manipulation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Duplicates</a:t>
            </a:r>
            <a:r>
              <a:rPr lang="en-CA"/>
              <a:t> — </a:t>
            </a:r>
            <a:r>
              <a:rPr lang="en-CA"/>
              <a:t>Removed duplicate rows and created a new table with the cleaned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Null Values</a:t>
            </a:r>
            <a:r>
              <a:rPr lang="en-CA"/>
              <a:t> — Identified none; no action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Unrealistic Data</a:t>
            </a:r>
            <a:r>
              <a:rPr lang="en-CA"/>
              <a:t> — </a:t>
            </a:r>
            <a:r>
              <a:rPr lang="en-CA"/>
              <a:t>Deleted 7,596 rows with ride durations of 24 hours or longer, as they were considered unrealistic and could skew the analysis.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1815350" y="78975"/>
            <a:ext cx="5197800" cy="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2020"/>
              <a:t>Supporting Visualizations &amp; Key Findings</a:t>
            </a:r>
            <a:endParaRPr sz="2020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0" y="567425"/>
            <a:ext cx="6958851" cy="43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6785700" y="987750"/>
            <a:ext cx="235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Displays </a:t>
            </a:r>
            <a:r>
              <a:rPr b="1" lang="en-CA" sz="1300">
                <a:solidFill>
                  <a:schemeClr val="dk2"/>
                </a:solidFill>
              </a:rPr>
              <a:t>Average Trip Duration</a:t>
            </a:r>
            <a:r>
              <a:rPr lang="en-CA" sz="1300">
                <a:solidFill>
                  <a:schemeClr val="dk2"/>
                </a:solidFill>
              </a:rPr>
              <a:t> (</a:t>
            </a:r>
            <a:r>
              <a:rPr b="1" lang="en-CA" sz="1300">
                <a:solidFill>
                  <a:schemeClr val="dk2"/>
                </a:solidFill>
              </a:rPr>
              <a:t>ATD</a:t>
            </a:r>
            <a:r>
              <a:rPr lang="en-CA" sz="1300">
                <a:solidFill>
                  <a:schemeClr val="dk2"/>
                </a:solidFill>
              </a:rPr>
              <a:t>) by group for each month in 2024.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6785700" y="2176125"/>
            <a:ext cx="2358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Numeric labels highlight </a:t>
            </a:r>
            <a:r>
              <a:rPr b="1" lang="en-CA" sz="1300">
                <a:solidFill>
                  <a:schemeClr val="dk2"/>
                </a:solidFill>
              </a:rPr>
              <a:t>ATD </a:t>
            </a:r>
            <a:r>
              <a:rPr lang="en-CA" sz="1300">
                <a:solidFill>
                  <a:schemeClr val="dk2"/>
                </a:solidFill>
              </a:rPr>
              <a:t>at the start of each quarter.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6785700" y="3164400"/>
            <a:ext cx="235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Y-axis represents </a:t>
            </a:r>
            <a:r>
              <a:rPr b="1" lang="en-CA" sz="1300">
                <a:solidFill>
                  <a:schemeClr val="dk2"/>
                </a:solidFill>
              </a:rPr>
              <a:t>ATD </a:t>
            </a:r>
            <a:r>
              <a:rPr lang="en-CA" sz="1300">
                <a:solidFill>
                  <a:schemeClr val="dk2"/>
                </a:solidFill>
              </a:rPr>
              <a:t>in minutes; X-axis represents the months of the year.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1973100" y="78975"/>
            <a:ext cx="5197800" cy="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2020"/>
              <a:t>Supporting Visualizations &amp; Key Findings</a:t>
            </a:r>
            <a:endParaRPr sz="202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50" y="594625"/>
            <a:ext cx="7008150" cy="435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6785700" y="941200"/>
            <a:ext cx="2358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Displays Average </a:t>
            </a:r>
            <a:r>
              <a:rPr b="1" lang="en-CA" sz="1300">
                <a:solidFill>
                  <a:schemeClr val="dk2"/>
                </a:solidFill>
              </a:rPr>
              <a:t>Ride Frequency</a:t>
            </a:r>
            <a:r>
              <a:rPr lang="en-CA" sz="1300">
                <a:solidFill>
                  <a:schemeClr val="dk2"/>
                </a:solidFill>
              </a:rPr>
              <a:t> (</a:t>
            </a:r>
            <a:r>
              <a:rPr b="1" lang="en-CA" sz="1300">
                <a:solidFill>
                  <a:schemeClr val="dk2"/>
                </a:solidFill>
              </a:rPr>
              <a:t>ARF</a:t>
            </a:r>
            <a:r>
              <a:rPr lang="en-CA" sz="1300">
                <a:solidFill>
                  <a:schemeClr val="dk2"/>
                </a:solidFill>
              </a:rPr>
              <a:t>) by group for each month in 2024.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6785700" y="2179200"/>
            <a:ext cx="2358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Numeric labels highlight </a:t>
            </a:r>
            <a:r>
              <a:rPr b="1" lang="en-CA" sz="1300">
                <a:solidFill>
                  <a:schemeClr val="dk2"/>
                </a:solidFill>
              </a:rPr>
              <a:t>ARF </a:t>
            </a:r>
            <a:r>
              <a:rPr lang="en-CA" sz="1300">
                <a:solidFill>
                  <a:schemeClr val="dk2"/>
                </a:solidFill>
              </a:rPr>
              <a:t>at the start of each quarter.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6785700" y="3164400"/>
            <a:ext cx="23583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-CA" sz="1300">
                <a:solidFill>
                  <a:schemeClr val="dk2"/>
                </a:solidFill>
              </a:rPr>
              <a:t>Y-axis represents </a:t>
            </a:r>
            <a:r>
              <a:rPr b="1" lang="en-CA" sz="1300">
                <a:solidFill>
                  <a:schemeClr val="dk2"/>
                </a:solidFill>
              </a:rPr>
              <a:t>Total Rides</a:t>
            </a:r>
            <a:r>
              <a:rPr lang="en-CA" sz="1300">
                <a:solidFill>
                  <a:schemeClr val="dk2"/>
                </a:solidFill>
              </a:rPr>
              <a:t> taken by each group; X-axis represents the months of the year.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Summary of Analysis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Key Metrics Analyzed:</a:t>
            </a:r>
            <a:r>
              <a:rPr lang="en-CA"/>
              <a:t> Average Trip Duration, Average Ride Frequency.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Findings: </a:t>
            </a:r>
            <a:r>
              <a:rPr lang="en-CA"/>
              <a:t>Casual riders take trips that are approximately 40% longer than members, while members ride 45% more frequently than casual riders.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CA"/>
              <a:t>Trends &amp; Patterns: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CA"/>
              <a:t>Average Trip Duration</a:t>
            </a:r>
            <a:r>
              <a:rPr lang="en-CA"/>
              <a:t> — Increases from January to May-June, followed by a gradual decline through December for both groups.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-CA"/>
              <a:t>Average Ride Frequency</a:t>
            </a:r>
            <a:r>
              <a:rPr lang="en-CA"/>
              <a:t> — Rises steadily from January to September, then declines rapidly through December, showing similar patterns across both groups.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Conclusion &amp; Next Steps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Summary:</a:t>
            </a:r>
            <a:r>
              <a:rPr lang="en-CA"/>
              <a:t> The analysis reveals a clear distinction between the two groups — members take shorter, more frequent rides, while casual riders prefer longer, less frequent trips.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Next Steps: </a:t>
            </a:r>
            <a:r>
              <a:rPr lang="en-CA"/>
              <a:t>Leverage these insights to design a targeted marketing strategy aimed at converting casual riders into annual members.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Recommendations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Recommendation 1:</a:t>
            </a:r>
            <a:r>
              <a:rPr lang="en-CA"/>
              <a:t> Casual riders take longer trips during March-October — target promotions during these months.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CA"/>
              <a:t>Important:</a:t>
            </a:r>
            <a:r>
              <a:rPr lang="en-CA"/>
              <a:t> May not be effective during July-September (local downtrend on the chart) and is irrelevant for November-February.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Recommendation 2:</a:t>
            </a:r>
            <a:r>
              <a:rPr lang="en-CA"/>
              <a:t> March-September casual riders take the most trips  — o</a:t>
            </a:r>
            <a:r>
              <a:rPr lang="en-CA"/>
              <a:t>ffer limited-time discounts to those taking &gt;3 rides/month.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CA"/>
              <a:t>Important:</a:t>
            </a:r>
            <a:r>
              <a:rPr lang="en-CA"/>
              <a:t> Avoid this promotion from October to February due to lower ridership during colder months.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CA"/>
              <a:t>Recommendation 3: </a:t>
            </a:r>
            <a:r>
              <a:rPr lang="en-CA"/>
              <a:t>Improve collection of start/end location data (currently incomplete for 2024) — this will help identify high-demand routes and optimize bike station placement.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Thank you!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CA"/>
              <a:t>Project prepared for the </a:t>
            </a:r>
            <a:r>
              <a:rPr lang="en-CA" u="sng">
                <a:solidFill>
                  <a:schemeClr val="hlink"/>
                </a:solidFill>
                <a:hlinkClick r:id="rId3"/>
              </a:rPr>
              <a:t>Google Data Analytics Professional Certificate</a:t>
            </a:r>
            <a:r>
              <a:rPr lang="en-CA" u="sng">
                <a:solidFill>
                  <a:schemeClr val="hlink"/>
                </a:solidFill>
                <a:hlinkClick r:id="rId4"/>
              </a:rPr>
              <a:t> program</a:t>
            </a:r>
            <a:r>
              <a:rPr lang="en-CA"/>
              <a:t> “Cyclistic” case study by Mykyta (Nick) Shevelov on 2025-03-04.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